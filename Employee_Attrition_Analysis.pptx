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ttrition Analysis" id="{C60608EB-1E63-A5F2-E695-069DAADA789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F172A"/>
                </a:solidFill>
                <a:latin typeface="+mn-lt"/>
              </a:rPr>
              <a:t>Attrition rate (%) - overall 9.5%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E6-484A-B71D-B279D1D7069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E6-484A-B71D-B279D1D7069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6E6-484A-B71D-B279D1D70692}"/>
              </c:ext>
            </c:extLst>
          </c:dPt>
          <c:dPt>
            <c:idx val="3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E6-484A-B71D-B279D1D70692}"/>
              </c:ext>
            </c:extLst>
          </c:dPt>
          <c:dPt>
            <c:idx val="4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E6-484A-B71D-B279D1D7069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Overtime: yes</c:v>
                </c:pt>
                <c:pt idx="1">
                  <c:v>Job satisfaction: lowest</c:v>
                </c:pt>
                <c:pt idx="2">
                  <c:v>Travels frequently</c:v>
                </c:pt>
                <c:pt idx="3">
                  <c:v>Job satisfaction: highest</c:v>
                </c:pt>
                <c:pt idx="4">
                  <c:v>Overtime: 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14.1</c:v>
                </c:pt>
                <c:pt idx="1">
                  <c:v>12.9</c:v>
                </c:pt>
                <c:pt idx="2">
                  <c:v>11.5</c:v>
                </c:pt>
                <c:pt idx="3">
                  <c:v>7.8</c:v>
                </c:pt>
                <c:pt idx="4">
                  <c:v>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6E6-484A-B71D-B279D1D706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95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05840"/>
            <a:ext cx="53035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large"/>
          <p:cNvSpPr/>
          <p:nvPr/>
        </p:nvSpPr>
        <p:spPr>
          <a:xfrm>
            <a:off x="6035040" y="731520"/>
            <a:ext cx="2926080" cy="292608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3" name="Circle small"/>
          <p:cNvSpPr/>
          <p:nvPr/>
        </p:nvSpPr>
        <p:spPr>
          <a:xfrm>
            <a:off x="7223760" y="3017520"/>
            <a:ext cx="1737360" cy="17373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058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Employee Attrition Analysis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3063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 Python EDA project with an interactive Streamlit dashboard</a:t>
            </a:r>
            <a:endParaRPr lang="en-US" sz="1800" dirty="0"/>
          </a:p>
        </p:txBody>
      </p:sp>
      <p:sp>
        <p:nvSpPr>
          <p:cNvPr id="6" name="Tech line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Python  |  Pandas  |  Plotly  | 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3" name="Badge 1"/>
          <p:cNvSpPr txBox="1"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Overview Objective"/>
          <p:cNvSpPr txBox="1"/>
          <p:nvPr/>
        </p:nvSpPr>
        <p:spPr>
          <a:xfrm>
            <a:off x="1188720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why employees leave and which groups are at highest risk.</a:t>
            </a:r>
            <a:endParaRPr lang="en-US" sz="1800" dirty="0"/>
          </a:p>
        </p:txBody>
      </p:sp>
      <p:sp>
        <p:nvSpPr>
          <p:cNvPr id="5" name="Badge 2"/>
          <p:cNvSpPr txBox="1"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Overview Data"/>
          <p:cNvSpPr txBox="1"/>
          <p:nvPr/>
        </p:nvSpPr>
        <p:spPr>
          <a:xfrm>
            <a:off x="1188720" y="2468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6,000 employee records with 26 fields and no duplicate rows.</a:t>
            </a:r>
            <a:endParaRPr lang="en-US" sz="1800" dirty="0"/>
          </a:p>
        </p:txBody>
      </p:sp>
      <p:sp>
        <p:nvSpPr>
          <p:cNvPr id="7" name="Badge 3"/>
          <p:cNvSpPr txBox="1"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verview Method"/>
          <p:cNvSpPr txBox="1"/>
          <p:nvPr/>
        </p:nvSpPr>
        <p:spPr>
          <a:xfrm>
            <a:off x="1188720" y="3566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Method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 and explore with Pandas, then present results in a Streamlit dashboard.</a:t>
            </a:r>
            <a:endParaRPr lang="en-US" sz="1800" dirty="0"/>
          </a:p>
        </p:txBody>
      </p:sp>
      <p:sp>
        <p:nvSpPr>
          <p:cNvPr id="9" name="Stat card 1"/>
          <p:cNvSpPr/>
          <p:nvPr/>
        </p:nvSpPr>
        <p:spPr>
          <a:xfrm>
            <a:off x="5943600" y="137160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tat number 1"/>
          <p:cNvSpPr txBox="1"/>
          <p:nvPr/>
        </p:nvSpPr>
        <p:spPr>
          <a:xfrm>
            <a:off x="603504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6,000</a:t>
            </a:r>
            <a:endParaRPr lang="en-US" sz="3400" dirty="0"/>
          </a:p>
        </p:txBody>
      </p:sp>
      <p:sp>
        <p:nvSpPr>
          <p:cNvPr id="11" name="Stat label 1"/>
          <p:cNvSpPr txBox="1"/>
          <p:nvPr/>
        </p:nvSpPr>
        <p:spPr>
          <a:xfrm>
            <a:off x="736092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 records</a:t>
            </a:r>
            <a:endParaRPr lang="en-US" sz="1400" dirty="0"/>
          </a:p>
        </p:txBody>
      </p:sp>
      <p:sp>
        <p:nvSpPr>
          <p:cNvPr id="12" name="Stat card 2"/>
          <p:cNvSpPr/>
          <p:nvPr/>
        </p:nvSpPr>
        <p:spPr>
          <a:xfrm>
            <a:off x="5943600" y="24688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tat number 2"/>
          <p:cNvSpPr txBox="1"/>
          <p:nvPr/>
        </p:nvSpPr>
        <p:spPr>
          <a:xfrm>
            <a:off x="6035040" y="2468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26</a:t>
            </a:r>
            <a:endParaRPr lang="en-US" sz="3400" dirty="0"/>
          </a:p>
        </p:txBody>
      </p:sp>
      <p:sp>
        <p:nvSpPr>
          <p:cNvPr id="14" name="Stat label 2"/>
          <p:cNvSpPr txBox="1"/>
          <p:nvPr/>
        </p:nvSpPr>
        <p:spPr>
          <a:xfrm>
            <a:off x="73609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fields</a:t>
            </a:r>
            <a:endParaRPr lang="en-US" sz="1400" dirty="0"/>
          </a:p>
        </p:txBody>
      </p:sp>
      <p:sp>
        <p:nvSpPr>
          <p:cNvPr id="15" name="Stat card 3"/>
          <p:cNvSpPr/>
          <p:nvPr/>
        </p:nvSpPr>
        <p:spPr>
          <a:xfrm>
            <a:off x="5943600" y="356616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tat number 3"/>
          <p:cNvSpPr txBox="1"/>
          <p:nvPr/>
        </p:nvSpPr>
        <p:spPr>
          <a:xfrm>
            <a:off x="6035040" y="3566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9.5%</a:t>
            </a:r>
            <a:endParaRPr lang="en-US" sz="3400" dirty="0"/>
          </a:p>
        </p:txBody>
      </p:sp>
      <p:sp>
        <p:nvSpPr>
          <p:cNvPr id="17" name="Stat label 3"/>
          <p:cNvSpPr txBox="1"/>
          <p:nvPr/>
        </p:nvSpPr>
        <p:spPr>
          <a:xfrm>
            <a:off x="7360920" y="3566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attrition rate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Workflow</a:t>
            </a:r>
            <a:endParaRPr lang="en-US" sz="3400" dirty="0"/>
          </a:p>
        </p:txBody>
      </p:sp>
      <p:sp>
        <p:nvSpPr>
          <p:cNvPr id="3" name="Flow box 1"/>
          <p:cNvSpPr txBox="1"/>
          <p:nvPr/>
        </p:nvSpPr>
        <p:spPr>
          <a:xfrm>
            <a:off x="457200" y="155448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Load Data</a:t>
            </a:r>
            <a:endParaRPr lang="en-US" sz="1600" dirty="0"/>
          </a:p>
        </p:txBody>
      </p:sp>
      <p:sp>
        <p:nvSpPr>
          <p:cNvPr id="4" name="Flow caption 1"/>
          <p:cNvSpPr txBox="1"/>
          <p:nvPr/>
        </p:nvSpPr>
        <p:spPr>
          <a:xfrm>
            <a:off x="45720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6,000 rows from a CSV file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1965960" y="196596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6" name="Flow box 2"/>
          <p:cNvSpPr txBox="1"/>
          <p:nvPr/>
        </p:nvSpPr>
        <p:spPr>
          <a:xfrm>
            <a:off x="2148840" y="155448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</a:t>
            </a:r>
            <a:endParaRPr lang="en-US" sz="1600" dirty="0"/>
          </a:p>
        </p:txBody>
      </p:sp>
      <p:sp>
        <p:nvSpPr>
          <p:cNvPr id="7" name="Flow caption 2"/>
          <p:cNvSpPr txBox="1"/>
          <p:nvPr/>
        </p:nvSpPr>
        <p:spPr>
          <a:xfrm>
            <a:off x="214884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Remove duplicates, add age groups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3657600" y="196596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Flow box 3"/>
          <p:cNvSpPr txBox="1"/>
          <p:nvPr/>
        </p:nvSpPr>
        <p:spPr>
          <a:xfrm>
            <a:off x="3840480" y="155448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Explore</a:t>
            </a:r>
            <a:endParaRPr lang="en-US" sz="1600" dirty="0"/>
          </a:p>
        </p:txBody>
      </p:sp>
      <p:sp>
        <p:nvSpPr>
          <p:cNvPr id="10" name="Flow caption 3"/>
          <p:cNvSpPr txBox="1"/>
          <p:nvPr/>
        </p:nvSpPr>
        <p:spPr>
          <a:xfrm>
            <a:off x="384048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Pandas and Plotly charts</a:t>
            </a:r>
            <a:endParaRPr lang="en-US" sz="1400" dirty="0"/>
          </a:p>
        </p:txBody>
      </p:sp>
      <p:sp>
        <p:nvSpPr>
          <p:cNvPr id="11" name="Flow arrow 3"/>
          <p:cNvSpPr/>
          <p:nvPr/>
        </p:nvSpPr>
        <p:spPr>
          <a:xfrm>
            <a:off x="5349240" y="196596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Flow box 4"/>
          <p:cNvSpPr txBox="1"/>
          <p:nvPr/>
        </p:nvSpPr>
        <p:spPr>
          <a:xfrm>
            <a:off x="5532120" y="155448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3" name="Flow caption 4"/>
          <p:cNvSpPr txBox="1"/>
          <p:nvPr/>
        </p:nvSpPr>
        <p:spPr>
          <a:xfrm>
            <a:off x="553212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Streamlit filters and tabs</a:t>
            </a:r>
            <a:endParaRPr lang="en-US" sz="1400" dirty="0"/>
          </a:p>
        </p:txBody>
      </p:sp>
      <p:sp>
        <p:nvSpPr>
          <p:cNvPr id="14" name="Flow arrow 4"/>
          <p:cNvSpPr/>
          <p:nvPr/>
        </p:nvSpPr>
        <p:spPr>
          <a:xfrm>
            <a:off x="7040880" y="196596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Flow box 5"/>
          <p:cNvSpPr txBox="1"/>
          <p:nvPr/>
        </p:nvSpPr>
        <p:spPr>
          <a:xfrm>
            <a:off x="7223760" y="155448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Insights</a:t>
            </a:r>
            <a:endParaRPr lang="en-US" sz="1600" dirty="0"/>
          </a:p>
        </p:txBody>
      </p:sp>
      <p:sp>
        <p:nvSpPr>
          <p:cNvPr id="16" name="Flow caption 5"/>
          <p:cNvSpPr txBox="1"/>
          <p:nvPr/>
        </p:nvSpPr>
        <p:spPr>
          <a:xfrm>
            <a:off x="722376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Spot high-risk groups</a:t>
            </a:r>
            <a:endParaRPr lang="en-US" sz="1400" dirty="0"/>
          </a:p>
        </p:txBody>
      </p:sp>
      <p:sp>
        <p:nvSpPr>
          <p:cNvPr id="17" name="Notebook note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Notebook note text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notebook holds the EDA steps; app.py turns them into an interactive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Dashboard Features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548640" y="137160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Feature text 1"/>
          <p:cNvSpPr txBox="1"/>
          <p:nvPr/>
        </p:nvSpPr>
        <p:spPr>
          <a:xfrm>
            <a:off x="685800" y="148132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KPI Cards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Total, left, stayed and rate</a:t>
            </a:r>
            <a:endParaRPr lang="en-US" sz="1600" dirty="0"/>
          </a:p>
        </p:txBody>
      </p:sp>
      <p:sp>
        <p:nvSpPr>
          <p:cNvPr id="5" name="Feature card 2"/>
          <p:cNvSpPr/>
          <p:nvPr/>
        </p:nvSpPr>
        <p:spPr>
          <a:xfrm>
            <a:off x="2624328" y="137160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Feature text 2"/>
          <p:cNvSpPr txBox="1"/>
          <p:nvPr/>
        </p:nvSpPr>
        <p:spPr>
          <a:xfrm>
            <a:off x="2761488" y="148132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Filters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Department, role, gender, age</a:t>
            </a:r>
            <a:endParaRPr lang="en-US" sz="1600" dirty="0"/>
          </a:p>
        </p:txBody>
      </p:sp>
      <p:sp>
        <p:nvSpPr>
          <p:cNvPr id="7" name="Feature card 3"/>
          <p:cNvSpPr/>
          <p:nvPr/>
        </p:nvSpPr>
        <p:spPr>
          <a:xfrm>
            <a:off x="4700016" y="137160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Feature text 3"/>
          <p:cNvSpPr txBox="1"/>
          <p:nvPr/>
        </p:nvSpPr>
        <p:spPr>
          <a:xfrm>
            <a:off x="4837176" y="148132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Overview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Attrition split and rates</a:t>
            </a:r>
            <a:endParaRPr lang="en-US" sz="1600" dirty="0"/>
          </a:p>
        </p:txBody>
      </p:sp>
      <p:sp>
        <p:nvSpPr>
          <p:cNvPr id="9" name="Feature card 4"/>
          <p:cNvSpPr/>
          <p:nvPr/>
        </p:nvSpPr>
        <p:spPr>
          <a:xfrm>
            <a:off x="6775704" y="137160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Feature text 4"/>
          <p:cNvSpPr txBox="1"/>
          <p:nvPr/>
        </p:nvSpPr>
        <p:spPr>
          <a:xfrm>
            <a:off x="6912864" y="148132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People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Gender and age patterns</a:t>
            </a:r>
            <a:endParaRPr lang="en-US" sz="1600" dirty="0"/>
          </a:p>
        </p:txBody>
      </p:sp>
      <p:sp>
        <p:nvSpPr>
          <p:cNvPr id="11" name="Feature card 5"/>
          <p:cNvSpPr/>
          <p:nvPr/>
        </p:nvSpPr>
        <p:spPr>
          <a:xfrm>
            <a:off x="548640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Feature text 5"/>
          <p:cNvSpPr txBox="1"/>
          <p:nvPr/>
        </p:nvSpPr>
        <p:spPr>
          <a:xfrm>
            <a:off x="685800" y="3127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Work Factors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Overtime, travel, satisfaction</a:t>
            </a:r>
            <a:endParaRPr lang="en-US" sz="1600" dirty="0"/>
          </a:p>
        </p:txBody>
      </p:sp>
      <p:sp>
        <p:nvSpPr>
          <p:cNvPr id="13" name="Feature card 6"/>
          <p:cNvSpPr/>
          <p:nvPr/>
        </p:nvSpPr>
        <p:spPr>
          <a:xfrm>
            <a:off x="2624328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Feature text 6"/>
          <p:cNvSpPr txBox="1"/>
          <p:nvPr/>
        </p:nvSpPr>
        <p:spPr>
          <a:xfrm>
            <a:off x="2761488" y="3127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Pay &amp; Tenure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Income and years at company</a:t>
            </a:r>
            <a:endParaRPr lang="en-US" sz="1600" dirty="0"/>
          </a:p>
        </p:txBody>
      </p:sp>
      <p:sp>
        <p:nvSpPr>
          <p:cNvPr id="15" name="Feature card 7"/>
          <p:cNvSpPr/>
          <p:nvPr/>
        </p:nvSpPr>
        <p:spPr>
          <a:xfrm>
            <a:off x="4700016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Feature text 7"/>
          <p:cNvSpPr txBox="1"/>
          <p:nvPr/>
        </p:nvSpPr>
        <p:spPr>
          <a:xfrm>
            <a:off x="4837176" y="3127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Correlation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Heatmap and top 10 factors</a:t>
            </a:r>
            <a:endParaRPr lang="en-US" sz="1600" dirty="0"/>
          </a:p>
        </p:txBody>
      </p:sp>
      <p:sp>
        <p:nvSpPr>
          <p:cNvPr id="17" name="Feature card 8"/>
          <p:cNvSpPr/>
          <p:nvPr/>
        </p:nvSpPr>
        <p:spPr>
          <a:xfrm>
            <a:off x="6775704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Feature text 8"/>
          <p:cNvSpPr txBox="1"/>
          <p:nvPr/>
        </p:nvSpPr>
        <p:spPr>
          <a:xfrm>
            <a:off x="6912864" y="3127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High-risk Groups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groups with most exits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Key Findings</a:t>
            </a:r>
            <a:endParaRPr lang="en-US" sz="3400" dirty="0"/>
          </a:p>
        </p:txBody>
      </p:sp>
      <p:graphicFrame>
        <p:nvGraphicFramePr>
          <p:cNvPr id="3" name="Attrition rate chart"/>
          <p:cNvGraphicFramePr/>
          <p:nvPr/>
        </p:nvGraphicFramePr>
        <p:xfrm>
          <a:off x="548640" y="128016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keaway card 1"/>
          <p:cNvSpPr/>
          <p:nvPr/>
        </p:nvSpPr>
        <p:spPr>
          <a:xfrm>
            <a:off x="6035040" y="1280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akeaway text 1"/>
          <p:cNvSpPr txBox="1"/>
          <p:nvPr/>
        </p:nvSpPr>
        <p:spPr>
          <a:xfrm>
            <a:off x="6172200" y="1280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Overtime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Nearly doubles the exit rate: 14.1% vs 7.7%.</a:t>
            </a:r>
            <a:endParaRPr lang="en-US" sz="1600" dirty="0"/>
          </a:p>
        </p:txBody>
      </p:sp>
      <p:sp>
        <p:nvSpPr>
          <p:cNvPr id="6" name="Takeaway card 2"/>
          <p:cNvSpPr/>
          <p:nvPr/>
        </p:nvSpPr>
        <p:spPr>
          <a:xfrm>
            <a:off x="6035040" y="2423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akeaway text 2"/>
          <p:cNvSpPr txBox="1"/>
          <p:nvPr/>
        </p:nvSpPr>
        <p:spPr>
          <a:xfrm>
            <a:off x="6172200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Satisfaction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score: 12.9% leave, highest: 7.8%.</a:t>
            </a:r>
            <a:endParaRPr lang="en-US" sz="1600" dirty="0"/>
          </a:p>
        </p:txBody>
      </p:sp>
      <p:sp>
        <p:nvSpPr>
          <p:cNvPr id="8" name="Takeaway card 3"/>
          <p:cNvSpPr/>
          <p:nvPr/>
        </p:nvSpPr>
        <p:spPr>
          <a:xfrm>
            <a:off x="6035040" y="356616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akeaway text 3"/>
          <p:cNvSpPr txBox="1"/>
          <p:nvPr/>
        </p:nvSpPr>
        <p:spPr>
          <a:xfrm>
            <a:off x="6172200" y="3566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Leavers' median monthly income is 9,691 vs 11,031.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Suggests</a:t>
            </a:r>
            <a:endParaRPr lang="en-US" sz="3400" dirty="0"/>
          </a:p>
        </p:txBody>
      </p:sp>
      <p:sp>
        <p:nvSpPr>
          <p:cNvPr id="3" name="Suggestion card 1"/>
          <p:cNvSpPr/>
          <p:nvPr/>
        </p:nvSpPr>
        <p:spPr>
          <a:xfrm>
            <a:off x="548640" y="132588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uggestion text 1"/>
          <p:cNvSpPr txBox="1"/>
          <p:nvPr/>
        </p:nvSpPr>
        <p:spPr>
          <a:xfrm>
            <a:off x="1325880" y="1417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Limit overtime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Attrition is 14.1% with overtime and 7.7% without. Spread workloads.</a:t>
            </a:r>
            <a:endParaRPr lang="en-US" sz="1800" dirty="0"/>
          </a:p>
        </p:txBody>
      </p:sp>
      <p:sp>
        <p:nvSpPr>
          <p:cNvPr id="6" name="Suggestion card 2"/>
          <p:cNvSpPr/>
          <p:nvPr/>
        </p:nvSpPr>
        <p:spPr>
          <a:xfrm>
            <a:off x="4663440" y="132588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Badge 2"/>
          <p:cNvSpPr txBox="1"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uggestion text 2"/>
          <p:cNvSpPr txBox="1"/>
          <p:nvPr/>
        </p:nvSpPr>
        <p:spPr>
          <a:xfrm>
            <a:off x="5440680" y="1417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Raise job satisfaction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Level 1 shows 12.9% attrition against 7.8% at level 4.</a:t>
            </a:r>
            <a:endParaRPr lang="en-US" sz="1800" dirty="0"/>
          </a:p>
        </p:txBody>
      </p:sp>
      <p:sp>
        <p:nvSpPr>
          <p:cNvPr id="9" name="Suggestion card 3"/>
          <p:cNvSpPr/>
          <p:nvPr/>
        </p:nvSpPr>
        <p:spPr>
          <a:xfrm>
            <a:off x="548640" y="28803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 3"/>
          <p:cNvSpPr txBox="1"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uggestion text 3"/>
          <p:cNvSpPr txBox="1"/>
          <p:nvPr/>
        </p:nvSpPr>
        <p:spPr>
          <a:xfrm>
            <a:off x="1325880" y="2971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Watch shorter tenure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Leavers have a median of 14 years at the company, stayers 21.</a:t>
            </a:r>
            <a:endParaRPr lang="en-US" sz="1800" dirty="0"/>
          </a:p>
        </p:txBody>
      </p:sp>
      <p:sp>
        <p:nvSpPr>
          <p:cNvPr id="12" name="Suggestion card 4"/>
          <p:cNvSpPr/>
          <p:nvPr/>
        </p:nvSpPr>
        <p:spPr>
          <a:xfrm>
            <a:off x="4663440" y="28803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Badge 4"/>
          <p:cNvSpPr txBox="1"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uggestion text 4"/>
          <p:cNvSpPr txBox="1"/>
          <p:nvPr/>
        </p:nvSpPr>
        <p:spPr>
          <a:xfrm>
            <a:off x="5440680" y="2971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 pay and travel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Frequent travellers leave at 11.5%, rare travellers at 8.8%.</a:t>
            </a:r>
            <a:endParaRPr lang="en-US" sz="1800" dirty="0"/>
          </a:p>
        </p:txBody>
      </p:sp>
      <p:sp>
        <p:nvSpPr>
          <p:cNvPr id="15" name="Caveat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These patterns show association, not proof of cause.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and Future Scope</a:t>
            </a:r>
            <a:endParaRPr lang="en-US" sz="3400" dirty="0"/>
          </a:p>
        </p:txBody>
      </p:sp>
      <p:sp>
        <p:nvSpPr>
          <p:cNvPr id="3" name="Closing card 1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losing text 1"/>
          <p:cNvSpPr txBox="1"/>
          <p:nvPr/>
        </p:nvSpPr>
        <p:spPr>
          <a:xfrm>
            <a:off x="822960" y="16459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What was achieved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and explored 6,000 records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Linked overtime and low satisfaction to exits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Built a filterable dashboard</a:t>
            </a:r>
            <a:endParaRPr lang="en-US" sz="2000" dirty="0"/>
          </a:p>
        </p:txBody>
      </p:sp>
      <p:sp>
        <p:nvSpPr>
          <p:cNvPr id="5" name="Closing card 2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losing text 2"/>
          <p:cNvSpPr txBox="1"/>
          <p:nvPr/>
        </p:nvSpPr>
        <p:spPr>
          <a:xfrm>
            <a:off x="4937760" y="16459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scope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Predict attrition with machine learning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Deploy the dashboard online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Refresh with live HR data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6C7E-8EBE-D08A-E5B0-1DBD3A028CC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320039"/>
            <a:ext cx="8046720" cy="4558937"/>
          </a:xfrm>
        </p:spPr>
        <p:txBody>
          <a:bodyPr/>
          <a:lstStyle/>
          <a:p>
            <a:br>
              <a:rPr lang="en-US" sz="7200" dirty="0"/>
            </a:br>
            <a:r>
              <a:rPr lang="en-US" sz="7200" dirty="0"/>
              <a:t>    THANK YOU…</a:t>
            </a:r>
          </a:p>
        </p:txBody>
      </p:sp>
    </p:spTree>
    <p:extLst>
      <p:ext uri="{BB962C8B-B14F-4D97-AF65-F5344CB8AC3E}">
        <p14:creationId xmlns:p14="http://schemas.microsoft.com/office/powerpoint/2010/main" val="2224414627"/>
      </p:ext>
    </p:extLst>
  </p:cSld>
  <p:clrMapOvr>
    <a:masterClrMapping/>
  </p:clrMapOvr>
</p:sld>
</file>

<file path=ppt/theme/theme1.xml><?xml version="1.0" encoding="utf-8"?>
<a:theme xmlns:a="http://schemas.openxmlformats.org/drawingml/2006/main" name="Attrition Analysis">
  <a:themeElements>
    <a:clrScheme name="Attrition Analysis">
      <a:dk1>
        <a:srgbClr val="0F172A"/>
      </a:dk1>
      <a:lt1>
        <a:srgbClr val="FFFFFF"/>
      </a:lt1>
      <a:dk2>
        <a:srgbClr val="12354F"/>
      </a:dk2>
      <a:lt2>
        <a:srgbClr val="EAF4F8"/>
      </a:lt2>
      <a:accent1>
        <a:srgbClr val="2E86AB"/>
      </a:accent1>
      <a:accent2>
        <a:srgbClr val="E4572E"/>
      </a:accent2>
      <a:accent3>
        <a:srgbClr val="0D9488"/>
      </a:accent3>
      <a:accent4>
        <a:srgbClr val="7C3AED"/>
      </a:accent4>
      <a:accent5>
        <a:srgbClr val="DB2777"/>
      </a:accent5>
      <a:accent6>
        <a:srgbClr val="64748B"/>
      </a:accent6>
      <a:hlink>
        <a:srgbClr val="2E86AB"/>
      </a:hlink>
      <a:folHlink>
        <a:srgbClr val="7C3AED"/>
      </a:folHlink>
    </a:clrScheme>
    <a:fontScheme name="Attrition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357</Words>
  <Application>Microsoft Office PowerPoint</Application>
  <PresentationFormat>On-screen Show (16:9)</PresentationFormat>
  <Paragraphs>87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Attrition Analysis</vt:lpstr>
      <vt:lpstr>Employee Attrition Analysis</vt:lpstr>
      <vt:lpstr>Project Overview</vt:lpstr>
      <vt:lpstr>Project Workflow</vt:lpstr>
      <vt:lpstr>Dashboard Features</vt:lpstr>
      <vt:lpstr>Key Findings</vt:lpstr>
      <vt:lpstr>What the Data Suggests</vt:lpstr>
      <vt:lpstr>Conclusion and Future Scope</vt:lpstr>
      <vt:lpstr>     THANK YOU…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Analysis</dc:title>
  <dc:subject>PptxGenJS Presentation</dc:subject>
  <dc:creator>PptxGenJS</dc:creator>
  <cp:lastModifiedBy>Shibin K</cp:lastModifiedBy>
  <cp:revision>2</cp:revision>
  <dcterms:created xsi:type="dcterms:W3CDTF">2026-10-07T06:41:54Z</dcterms:created>
  <dcterms:modified xsi:type="dcterms:W3CDTF">2026-10-07T06:44:34Z</dcterms:modified>
</cp:coreProperties>
</file>